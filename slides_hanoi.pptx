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Nós expandidos (UCS)</c:v>
                </c:pt>
              </c:strCache>
            </c:strRef>
          </c:tx>
          <c:spPr>
            <a:solidFill>
              <a:srgbClr val="3987E5"/>
            </a:solidFill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</c:v>
                </c:pt>
                <c:pt idx="1">
                  <c:v>70</c:v>
                </c:pt>
                <c:pt idx="2">
                  <c:v>232</c:v>
                </c:pt>
                <c:pt idx="3">
                  <c:v>686</c:v>
                </c:pt>
                <c:pt idx="4">
                  <c:v>2144</c:v>
                </c:pt>
                <c:pt idx="5">
                  <c:v>6390</c:v>
                </c:pt>
                <c:pt idx="6">
                  <c:v>19512</c:v>
                </c:pt>
                <c:pt idx="7">
                  <c:v>58366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C3C2B7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83835"/>
            </a:solidFill>
          </a:ln>
        </c:spPr>
        <c:txPr>
          <a:bodyPr/>
          <a:lstStyle/>
          <a:p>
            <a:pPr>
              <a:defRPr sz="1200">
                <a:solidFill>
                  <a:srgbClr val="C3C2B7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2C2C2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98781"/>
                </a:solidFill>
                <a:latin typeface="Courier New"/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solidFill>
      <a:srgbClr val="1A1A19"/>
    </a:solidFill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UCS</c:v>
                </c:pt>
              </c:strCache>
            </c:strRef>
          </c:tx>
          <c:spPr>
            <a:solidFill>
              <a:srgbClr val="3987E5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9 discos</c:v>
                </c:pt>
                <c:pt idx="1">
                  <c:v>10 discos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19512</c:v>
                </c:pt>
                <c:pt idx="1">
                  <c:v>58366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Gulosa</c:v>
                </c:pt>
              </c:strCache>
            </c:strRef>
          </c:tx>
          <c:spPr>
            <a:solidFill>
              <a:srgbClr val="D95926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9 discos</c:v>
                </c:pt>
                <c:pt idx="1">
                  <c:v>10 discos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17642</c:v>
                </c:pt>
                <c:pt idx="1">
                  <c:v>62080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A*</c:v>
                </c:pt>
              </c:strCache>
            </c:strRef>
          </c:tx>
          <c:spPr>
            <a:solidFill>
              <a:srgbClr val="199E7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9 discos</c:v>
                </c:pt>
                <c:pt idx="1">
                  <c:v>10 discos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18201</c:v>
                </c:pt>
                <c:pt idx="1">
                  <c:v>55881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50">
                  <a:solidFill>
                    <a:srgbClr val="C3C2B7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83835"/>
            </a:solidFill>
          </a:ln>
        </c:spPr>
        <c:txPr>
          <a:bodyPr/>
          <a:lstStyle/>
          <a:p>
            <a:pPr>
              <a:defRPr sz="1200">
                <a:solidFill>
                  <a:srgbClr val="C3C2B7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2C2C2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98781"/>
                </a:solidFill>
                <a:latin typeface="Courier New"/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C3C2B7"/>
              </a:solidFill>
              <a:latin typeface="Calibri"/>
            </a:defRPr>
          </a:pPr>
        </a:p>
      </c:txPr>
    </c:legend>
    <c:dispBlanksAs val="gap"/>
  </c:chart>
  <c:spPr>
    <a:solidFill>
      <a:srgbClr val="1A1A19"/>
    </a:solidFill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98781"/>
                </a:solidFill>
                <a:latin typeface="Courier New"/>
              </a:rPr>
              <a:t>SEMINÁRIO · INTELIGÊNCIA ARTIFICIAL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8686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FFFFFF"/>
                </a:solidFill>
                <a:latin typeface="Cambria"/>
              </a:rPr>
              <a:t>Torre de Hanói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3C2B7"/>
                </a:solidFill>
                <a:latin typeface="Courier New"/>
              </a:rPr>
              <a:t>UCS  ·  Busca Gulosa  ·  A*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Kauã Cardoso Benini   ·   Gabriel Benini   ·   Felipe Donatoni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235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98781"/>
                </a:solidFill>
                <a:latin typeface="Courier New"/>
              </a:rPr>
              <a:t>Prof. Marcos Augusto Campagnaro Mucelini — 17/09/2026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22792" y="3941064"/>
            <a:ext cx="2944368" cy="105155"/>
          </a:xfrm>
          <a:prstGeom prst="roundRect">
            <a:avLst>
              <a:gd name="adj" fmla="val 30000"/>
            </a:avLst>
          </a:prstGeom>
          <a:solidFill>
            <a:srgbClr val="383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222181" y="2889504"/>
            <a:ext cx="63093" cy="1051560"/>
          </a:xfrm>
          <a:prstGeom prst="roundRect">
            <a:avLst>
              <a:gd name="adj" fmla="val 50000"/>
            </a:avLst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63429" y="2889504"/>
            <a:ext cx="63093" cy="1051560"/>
          </a:xfrm>
          <a:prstGeom prst="roundRect">
            <a:avLst>
              <a:gd name="adj" fmla="val 50000"/>
            </a:avLst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04677" y="2889504"/>
            <a:ext cx="63093" cy="1051560"/>
          </a:xfrm>
          <a:prstGeom prst="roundRect">
            <a:avLst>
              <a:gd name="adj" fmla="val 50000"/>
            </a:avLst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75369" y="3751783"/>
            <a:ext cx="1156716" cy="168249"/>
          </a:xfrm>
          <a:prstGeom prst="roundRect">
            <a:avLst>
              <a:gd name="adj" fmla="val 50000"/>
            </a:avLst>
          </a:prstGeom>
          <a:solidFill>
            <a:srgbClr val="8C6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91041" y="3562502"/>
            <a:ext cx="925372" cy="168249"/>
          </a:xfrm>
          <a:prstGeom prst="roundRect">
            <a:avLst>
              <a:gd name="adj" fmla="val 50000"/>
            </a:avLst>
          </a:prstGeom>
          <a:solidFill>
            <a:srgbClr val="AD8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06713" y="3373221"/>
            <a:ext cx="694029" cy="168249"/>
          </a:xfrm>
          <a:prstGeom prst="roundRect">
            <a:avLst>
              <a:gd name="adj" fmla="val 50000"/>
            </a:avLst>
          </a:prstGeom>
          <a:solidFill>
            <a:srgbClr val="C9A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22384" y="3183940"/>
            <a:ext cx="462686" cy="168249"/>
          </a:xfrm>
          <a:prstGeom prst="roundRect">
            <a:avLst>
              <a:gd name="adj" fmla="val 50000"/>
            </a:avLst>
          </a:prstGeom>
          <a:solidFill>
            <a:srgbClr val="E4D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5" y="4025188"/>
            <a:ext cx="420623" cy="1472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898781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84663" y="4025188"/>
            <a:ext cx="420623" cy="1472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898781"/>
                </a:solidFill>
                <a:latin typeface="Courier New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5911" y="4025188"/>
            <a:ext cx="420623" cy="1472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898781"/>
                </a:solidFill>
                <a:latin typeface="Courier New"/>
              </a:rPr>
              <a:t>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256032" cy="18288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98781"/>
                </a:solidFill>
                <a:latin typeface="Courier New"/>
              </a:rPr>
              <a:t>01 — 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Mover N discos, um por vez, sem erro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66751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>
                <a:solidFill>
                  <a:srgbClr val="199E70"/>
                </a:solidFill>
                <a:latin typeface="Calibri"/>
              </a:rPr>
              <a:t>●  </a:t>
            </a:r>
            <a:r>
              <a:rPr b="1" sz="1700">
                <a:solidFill>
                  <a:srgbClr val="FFFFFF"/>
                </a:solidFill>
                <a:latin typeface="Calibri"/>
              </a:rPr>
              <a:t>Três pinos: </a:t>
            </a:r>
            <a:r>
              <a:rPr sz="1700">
                <a:solidFill>
                  <a:srgbClr val="C3C2B7"/>
                </a:solidFill>
                <a:latin typeface="Calibri"/>
              </a:rPr>
              <a:t>A é onde tudo começa, B só ajuda a passagem, C é o destino final de todos os discos.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>
                <a:solidFill>
                  <a:srgbClr val="199E70"/>
                </a:solidFill>
                <a:latin typeface="Calibri"/>
              </a:rPr>
              <a:t>●  </a:t>
            </a:r>
            <a:r>
              <a:rPr b="1" sz="1700">
                <a:solidFill>
                  <a:srgbClr val="FFFFFF"/>
                </a:solidFill>
                <a:latin typeface="Calibri"/>
              </a:rPr>
              <a:t>Uma regra só: </a:t>
            </a:r>
            <a:r>
              <a:rPr sz="1700">
                <a:solidFill>
                  <a:srgbClr val="C3C2B7"/>
                </a:solidFill>
                <a:latin typeface="Calibri"/>
              </a:rPr>
              <a:t>nunca um disco maior fica sobre um menor — em nenhum pino, em momento nenhum.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>
                <a:solidFill>
                  <a:srgbClr val="199E70"/>
                </a:solidFill>
                <a:latin typeface="Calibri"/>
              </a:rPr>
              <a:t>●  </a:t>
            </a:r>
            <a:r>
              <a:rPr b="1" sz="1700">
                <a:solidFill>
                  <a:srgbClr val="FFFFFF"/>
                </a:solidFill>
                <a:latin typeface="Calibri"/>
              </a:rPr>
              <a:t>Uma vantagem rara: </a:t>
            </a:r>
            <a:r>
              <a:rPr sz="1700">
                <a:solidFill>
                  <a:srgbClr val="C3C2B7"/>
                </a:solidFill>
                <a:latin typeface="Calibri"/>
              </a:rPr>
              <a:t>a solução ótima tem fórmula exata — 2ⁿ − 1 movimentos — dá pra conferir cada teste.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74152" y="3849624"/>
            <a:ext cx="2944368" cy="105155"/>
          </a:xfrm>
          <a:prstGeom prst="roundRect">
            <a:avLst>
              <a:gd name="adj" fmla="val 30000"/>
            </a:avLst>
          </a:prstGeom>
          <a:solidFill>
            <a:srgbClr val="383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73541" y="2798064"/>
            <a:ext cx="63093" cy="1051560"/>
          </a:xfrm>
          <a:prstGeom prst="roundRect">
            <a:avLst>
              <a:gd name="adj" fmla="val 50000"/>
            </a:avLst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14789" y="2798064"/>
            <a:ext cx="63093" cy="1051560"/>
          </a:xfrm>
          <a:prstGeom prst="roundRect">
            <a:avLst>
              <a:gd name="adj" fmla="val 50000"/>
            </a:avLst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356037" y="2798064"/>
            <a:ext cx="63093" cy="1051560"/>
          </a:xfrm>
          <a:prstGeom prst="roundRect">
            <a:avLst>
              <a:gd name="adj" fmla="val 50000"/>
            </a:avLst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26729" y="3660343"/>
            <a:ext cx="1156716" cy="168249"/>
          </a:xfrm>
          <a:prstGeom prst="roundRect">
            <a:avLst>
              <a:gd name="adj" fmla="val 50000"/>
            </a:avLst>
          </a:prstGeom>
          <a:solidFill>
            <a:srgbClr val="8C6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42401" y="3471062"/>
            <a:ext cx="925372" cy="168249"/>
          </a:xfrm>
          <a:prstGeom prst="roundRect">
            <a:avLst>
              <a:gd name="adj" fmla="val 50000"/>
            </a:avLst>
          </a:prstGeom>
          <a:solidFill>
            <a:srgbClr val="AD8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58073" y="3281781"/>
            <a:ext cx="694029" cy="168249"/>
          </a:xfrm>
          <a:prstGeom prst="roundRect">
            <a:avLst>
              <a:gd name="adj" fmla="val 50000"/>
            </a:avLst>
          </a:prstGeom>
          <a:solidFill>
            <a:srgbClr val="C9A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73744" y="3092500"/>
            <a:ext cx="462686" cy="168249"/>
          </a:xfrm>
          <a:prstGeom prst="roundRect">
            <a:avLst>
              <a:gd name="adj" fmla="val 50000"/>
            </a:avLst>
          </a:prstGeom>
          <a:solidFill>
            <a:srgbClr val="E4D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94776" y="3933748"/>
            <a:ext cx="420623" cy="1472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898781"/>
                </a:solidFill>
                <a:latin typeface="Courier New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6024" y="3933748"/>
            <a:ext cx="420623" cy="1472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898781"/>
                </a:solidFill>
                <a:latin typeface="Courier New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77272" y="3933748"/>
            <a:ext cx="420623" cy="1472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898781"/>
                </a:solidFill>
                <a:latin typeface="Courier New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ourier New"/>
              </a:rPr>
              <a:t>02/14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256032" cy="18288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98781"/>
                </a:solidFill>
                <a:latin typeface="Courier New"/>
              </a:rPr>
              <a:t>02 — A ESCOLHA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Por que Torre de Hanói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359152"/>
            <a:ext cx="201168" cy="201168"/>
          </a:xfrm>
          <a:prstGeom prst="ellipse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144000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b="1" sz="1700">
                <a:solidFill>
                  <a:srgbClr val="FFFFFF"/>
                </a:solidFill>
                <a:latin typeface="Calibri"/>
              </a:rPr>
              <a:t>Gabarito exato — </a:t>
            </a:r>
            <a:r>
              <a:rPr sz="1700">
                <a:solidFill>
                  <a:srgbClr val="C3C2B7"/>
                </a:solidFill>
                <a:latin typeface="Calibri"/>
              </a:rPr>
              <a:t>dá pra conferir cada teste contra 2ⁿ−1; se o código errar, a gente sabe na hora.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410712"/>
            <a:ext cx="201168" cy="201168"/>
          </a:xfrm>
          <a:prstGeom prst="ellipse">
            <a:avLst/>
          </a:prstGeom>
          <a:solidFill>
            <a:srgbClr val="D95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337560"/>
            <a:ext cx="9144000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b="1" sz="1700">
                <a:solidFill>
                  <a:srgbClr val="FFFFFF"/>
                </a:solidFill>
                <a:latin typeface="Calibri"/>
              </a:rPr>
              <a:t>Espaço de estados 3ⁿ — </a:t>
            </a:r>
            <a:r>
              <a:rPr sz="1700">
                <a:solidFill>
                  <a:srgbClr val="C3C2B7"/>
                </a:solidFill>
                <a:latin typeface="Calibri"/>
              </a:rPr>
              <a:t>cada disco pode estar em qualquer um dos 3 pinos; a explosão combinatória fica visível.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462272"/>
            <a:ext cx="201168" cy="201168"/>
          </a:xfrm>
          <a:prstGeom prst="ellipse">
            <a:avLst/>
          </a:prstGeom>
          <a:solidFill>
            <a:srgbClr val="199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9144000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b="1" sz="1700">
                <a:solidFill>
                  <a:srgbClr val="FFFFFF"/>
                </a:solidFill>
                <a:latin typeface="Calibri"/>
              </a:rPr>
              <a:t>Regras curtas — </a:t>
            </a:r>
            <a:r>
              <a:rPr sz="1700">
                <a:solidFill>
                  <a:srgbClr val="C3C2B7"/>
                </a:solidFill>
                <a:latin typeface="Calibri"/>
              </a:rPr>
              <a:t>poucas linhas pra decorar; os três conseguem defender o código inteiro no seminário.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ourier New"/>
              </a:rPr>
              <a:t>03/14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256032" cy="18288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98781"/>
                </a:solidFill>
                <a:latin typeface="Courier New"/>
              </a:rPr>
              <a:t>03 — MODELAGEM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O problema em código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57400"/>
          <a:ext cx="69494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5029200"/>
              </a:tblGrid>
              <a:tr h="6553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898781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109728" marR="109728" marT="73152" marB="73152" anchor="ctr">
                    <a:solidFill>
                      <a:srgbClr val="1A1A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898781"/>
                          </a:solidFill>
                          <a:latin typeface="Calibri"/>
                        </a:rPr>
                        <a:t>Modelagem</a:t>
                      </a:r>
                    </a:p>
                  </a:txBody>
                  <a:tcPr marL="109728" marR="109728" marT="73152" marB="73152" anchor="ctr">
                    <a:solidFill>
                      <a:srgbClr val="1A1A1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L="109728" marR="109728" marT="73152" marB="73152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3C2B7"/>
                          </a:solidFill>
                          <a:latin typeface="Calibri"/>
                        </a:rPr>
                        <a:t>tupla de N posições — uma por disco. Valor = pino (0=A, 1=B, 2=C)</a:t>
                      </a:r>
                    </a:p>
                  </a:txBody>
                  <a:tcPr marL="109728" marR="109728" marT="73152" marB="73152" anchor="ctr">
                    <a:solidFill>
                      <a:srgbClr val="0D0D0D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Ações</a:t>
                      </a:r>
                    </a:p>
                  </a:txBody>
                  <a:tcPr marL="109728" marR="109728" marT="73152" marB="73152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3C2B7"/>
                          </a:solidFill>
                          <a:latin typeface="Calibri"/>
                        </a:rPr>
                        <a:t>mover o disco do topo de um pino pra outro pino válido</a:t>
                      </a:r>
                    </a:p>
                  </a:txBody>
                  <a:tcPr marL="109728" marR="109728" marT="73152" marB="73152" anchor="ctr">
                    <a:solidFill>
                      <a:srgbClr val="0D0D0D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Custo</a:t>
                      </a:r>
                    </a:p>
                  </a:txBody>
                  <a:tcPr marL="109728" marR="109728" marT="73152" marB="73152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3C2B7"/>
                          </a:solidFill>
                          <a:latin typeface="Calibri"/>
                        </a:rPr>
                        <a:t>1 por movimento, igual pra qualquer disco</a:t>
                      </a:r>
                    </a:p>
                  </a:txBody>
                  <a:tcPr marL="109728" marR="109728" marT="73152" marB="73152" anchor="ctr">
                    <a:solidFill>
                      <a:srgbClr val="0D0D0D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Objetivo</a:t>
                      </a:r>
                    </a:p>
                  </a:txBody>
                  <a:tcPr marL="109728" marR="109728" marT="73152" marB="73152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3C2B7"/>
                          </a:solidFill>
                          <a:latin typeface="Calibri"/>
                        </a:rPr>
                        <a:t>todos os discos no pino C</a:t>
                      </a:r>
                    </a:p>
                  </a:txBody>
                  <a:tcPr marL="109728" marR="109728" marT="73152" marB="73152" anchor="ctr">
                    <a:solidFill>
                      <a:srgbClr val="0D0D0D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Espaço de estados</a:t>
                      </a:r>
                    </a:p>
                  </a:txBody>
                  <a:tcPr marL="109728" marR="109728" marT="73152" marB="73152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3C2B7"/>
                          </a:solidFill>
                          <a:latin typeface="Calibri"/>
                        </a:rPr>
                        <a:t>3ⁿ posições possíveis</a:t>
                      </a:r>
                    </a:p>
                  </a:txBody>
                  <a:tcPr marL="109728" marR="109728" marT="73152" marB="73152" anchor="ctr"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0" y="2377440"/>
            <a:ext cx="3840480" cy="2743200"/>
          </a:xfrm>
          <a:prstGeom prst="roundRect">
            <a:avLst>
              <a:gd name="adj" fmla="val 6000"/>
            </a:avLst>
          </a:prstGeom>
          <a:solidFill>
            <a:srgbClr val="1A1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256032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98781"/>
                </a:solidFill>
                <a:latin typeface="Courier New"/>
              </a:rPr>
              <a:t>exemplo, 4 discos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288036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ourier New"/>
              </a:rPr>
              <a:t>(0, 0, 2, 1)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352044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C3C2B7"/>
                </a:solidFill>
                <a:latin typeface="Courier New"/>
              </a:rPr>
              <a:t>discos 1 e 2 → A
disco 3 → C
disco 4 →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46177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898781"/>
                </a:solidFill>
                <a:latin typeface="Calibri"/>
              </a:rPr>
              <a:t>tupla, não lista — precisa ser hashable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ourier New"/>
              </a:rPr>
              <a:t>04/14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256032" cy="18288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98781"/>
                </a:solidFill>
                <a:latin typeface="Courier New"/>
              </a:rPr>
              <a:t>04 — REGRAS DE MOVIMENTO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Só duas regras, e é isso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5120640" cy="2468880"/>
          </a:xfrm>
          <a:prstGeom prst="roundRect">
            <a:avLst>
              <a:gd name="adj" fmla="val 6000"/>
            </a:avLst>
          </a:prstGeom>
          <a:solidFill>
            <a:srgbClr val="1A1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98781"/>
                </a:solidFill>
                <a:latin typeface="Courier New"/>
              </a:rPr>
              <a:t>disco pequeno sobre disco grande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1268" y="3601821"/>
            <a:ext cx="2651760" cy="79552"/>
          </a:xfrm>
          <a:prstGeom prst="roundRect">
            <a:avLst>
              <a:gd name="adj" fmla="val 30000"/>
            </a:avLst>
          </a:prstGeom>
          <a:solidFill>
            <a:srgbClr val="383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15007" y="2779776"/>
            <a:ext cx="79552" cy="822045"/>
          </a:xfrm>
          <a:prstGeom prst="roundRect">
            <a:avLst>
              <a:gd name="adj" fmla="val 50000"/>
            </a:avLst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58137" y="3389680"/>
            <a:ext cx="1272844" cy="212140"/>
          </a:xfrm>
          <a:prstGeom prst="roundRect">
            <a:avLst>
              <a:gd name="adj" fmla="val 50000"/>
            </a:avLst>
          </a:prstGeom>
          <a:solidFill>
            <a:srgbClr val="8C6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49831" y="3151022"/>
            <a:ext cx="689457" cy="212140"/>
          </a:xfrm>
          <a:prstGeom prst="roundRect">
            <a:avLst>
              <a:gd name="adj" fmla="val 50000"/>
            </a:avLst>
          </a:prstGeom>
          <a:solidFill>
            <a:srgbClr val="E4D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99E70"/>
                </a:solidFill>
                <a:latin typeface="Calibri"/>
              </a:rPr>
              <a:t>sempre permitido  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965960"/>
            <a:ext cx="5120640" cy="2468880"/>
          </a:xfrm>
          <a:prstGeom prst="roundRect">
            <a:avLst>
              <a:gd name="adj" fmla="val 6000"/>
            </a:avLst>
          </a:prstGeom>
          <a:solidFill>
            <a:srgbClr val="1A1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1488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98781"/>
                </a:solidFill>
                <a:latin typeface="Courier New"/>
              </a:rPr>
              <a:t>disco grande sobre disco pequeno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96227" y="3601821"/>
            <a:ext cx="2651760" cy="79552"/>
          </a:xfrm>
          <a:prstGeom prst="roundRect">
            <a:avLst>
              <a:gd name="adj" fmla="val 30000"/>
            </a:avLst>
          </a:prstGeom>
          <a:solidFill>
            <a:srgbClr val="383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09967" y="2779776"/>
            <a:ext cx="79552" cy="822045"/>
          </a:xfrm>
          <a:prstGeom prst="roundRect">
            <a:avLst>
              <a:gd name="adj" fmla="val 50000"/>
            </a:avLst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44791" y="3389680"/>
            <a:ext cx="689457" cy="212140"/>
          </a:xfrm>
          <a:prstGeom prst="roundRect">
            <a:avLst>
              <a:gd name="adj" fmla="val 50000"/>
            </a:avLst>
          </a:prstGeom>
          <a:solidFill>
            <a:srgbClr val="E4D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53097" y="3151022"/>
            <a:ext cx="1272844" cy="212140"/>
          </a:xfrm>
          <a:prstGeom prst="roundRect">
            <a:avLst>
              <a:gd name="adj" fmla="val 50000"/>
            </a:avLst>
          </a:prstGeom>
          <a:solidFill>
            <a:srgbClr val="212220"/>
          </a:solidFill>
          <a:ln w="15875">
            <a:solidFill>
              <a:srgbClr val="D959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3449" y="3097987"/>
            <a:ext cx="477316" cy="3182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D95926"/>
                </a:solidFill>
                <a:latin typeface="Calibri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40233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95926"/>
                </a:solidFill>
                <a:latin typeface="Calibri"/>
              </a:rPr>
              <a:t>nunca permitido  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>
                <a:solidFill>
                  <a:srgbClr val="199E70"/>
                </a:solidFill>
                <a:latin typeface="Calibri"/>
              </a:rPr>
              <a:t>●  </a:t>
            </a:r>
            <a:r>
              <a:rPr b="1" sz="1600">
                <a:solidFill>
                  <a:srgbClr val="FFFFFF"/>
                </a:solidFill>
                <a:latin typeface="Calibri"/>
              </a:rPr>
              <a:t>Só o disco do topo </a:t>
            </a:r>
            <a:r>
              <a:rPr sz="1600">
                <a:solidFill>
                  <a:srgbClr val="C3C2B7"/>
                </a:solidFill>
                <a:latin typeface="Calibri"/>
              </a:rPr>
              <a:t>de um pino pode se mover — o de menor índice presente ali.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>
                <a:solidFill>
                  <a:srgbClr val="199E70"/>
                </a:solidFill>
                <a:latin typeface="Calibri"/>
              </a:rPr>
              <a:t>●  </a:t>
            </a:r>
            <a:r>
              <a:rPr b="1" sz="1600">
                <a:solidFill>
                  <a:srgbClr val="FFFFFF"/>
                </a:solidFill>
                <a:latin typeface="Calibri"/>
              </a:rPr>
              <a:t>Só pra pino vazio, </a:t>
            </a:r>
            <a:r>
              <a:rPr sz="1600">
                <a:solidFill>
                  <a:srgbClr val="C3C2B7"/>
                </a:solidFill>
                <a:latin typeface="Calibri"/>
              </a:rPr>
              <a:t>ou cujo disco do topo seja maior que o que está se movendo.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ourier New"/>
              </a:rPr>
              <a:t>05/14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256032" cy="18288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98781"/>
                </a:solidFill>
                <a:latin typeface="Courier New"/>
              </a:rPr>
              <a:t>05 — A REGRA MAIS IMPORTANTE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Uma função de busca só, três valores de 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10515600" cy="1828800"/>
          </a:xfrm>
          <a:prstGeom prst="roundRect">
            <a:avLst>
              <a:gd name="adj" fmla="val 6000"/>
            </a:avLst>
          </a:prstGeom>
          <a:solidFill>
            <a:srgbClr val="1A1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987552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50000"/>
              </a:lnSpc>
            </a:pPr>
            <a:r>
              <a:rPr sz="1800" b="0">
                <a:solidFill>
                  <a:srgbClr val="898781"/>
                </a:solidFill>
                <a:latin typeface="Courier New"/>
              </a:rPr>
              <a:t>def </a:t>
            </a:r>
            <a:r>
              <a:rPr sz="1800" b="0">
                <a:solidFill>
                  <a:srgbClr val="FFFFFF"/>
                </a:solidFill>
                <a:latin typeface="Courier New"/>
              </a:rPr>
              <a:t>f_ucs(g, h):</a:t>
            </a:r>
            <a:r>
              <a:rPr sz="1800" b="0">
                <a:solidFill>
                  <a:srgbClr val="898781"/>
                </a:solidFill>
                <a:latin typeface="Courier New"/>
              </a:rPr>
              <a:t>      return </a:t>
            </a:r>
            <a:r>
              <a:rPr sz="1800" b="1">
                <a:solidFill>
                  <a:srgbClr val="3987E5"/>
                </a:solidFill>
                <a:latin typeface="Courier New"/>
              </a:rPr>
              <a:t>g</a:t>
            </a:r>
          </a:p>
          <a:p>
            <a:pPr>
              <a:lnSpc>
                <a:spcPct val="150000"/>
              </a:lnSpc>
            </a:pPr>
            <a:r>
              <a:rPr sz="1800" b="0">
                <a:solidFill>
                  <a:srgbClr val="898781"/>
                </a:solidFill>
                <a:latin typeface="Courier New"/>
              </a:rPr>
              <a:t>def </a:t>
            </a:r>
            <a:r>
              <a:rPr sz="1800" b="0">
                <a:solidFill>
                  <a:srgbClr val="FFFFFF"/>
                </a:solidFill>
                <a:latin typeface="Courier New"/>
              </a:rPr>
              <a:t>f_gulosa(g, h):</a:t>
            </a:r>
            <a:r>
              <a:rPr sz="1800" b="0">
                <a:solidFill>
                  <a:srgbClr val="898781"/>
                </a:solidFill>
                <a:latin typeface="Courier New"/>
              </a:rPr>
              <a:t>  return </a:t>
            </a:r>
            <a:r>
              <a:rPr sz="1800" b="1">
                <a:solidFill>
                  <a:srgbClr val="D95926"/>
                </a:solidFill>
                <a:latin typeface="Courier New"/>
              </a:rPr>
              <a:t>h</a:t>
            </a:r>
          </a:p>
          <a:p>
            <a:pPr>
              <a:lnSpc>
                <a:spcPct val="150000"/>
              </a:lnSpc>
            </a:pPr>
            <a:r>
              <a:rPr sz="1800" b="0">
                <a:solidFill>
                  <a:srgbClr val="898781"/>
                </a:solidFill>
                <a:latin typeface="Courier New"/>
              </a:rPr>
              <a:t>def </a:t>
            </a:r>
            <a:r>
              <a:rPr sz="1800" b="0">
                <a:solidFill>
                  <a:srgbClr val="FFFFFF"/>
                </a:solidFill>
                <a:latin typeface="Courier New"/>
              </a:rPr>
              <a:t>f_astar(g, h):</a:t>
            </a:r>
            <a:r>
              <a:rPr sz="1800" b="0">
                <a:solidFill>
                  <a:srgbClr val="898781"/>
                </a:solidFill>
                <a:latin typeface="Courier New"/>
              </a:rPr>
              <a:t>    return </a:t>
            </a:r>
            <a:r>
              <a:rPr sz="1800" b="1">
                <a:solidFill>
                  <a:srgbClr val="199E70"/>
                </a:solidFill>
                <a:latin typeface="Courier New"/>
              </a:rPr>
              <a:t>g +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>
                <a:solidFill>
                  <a:srgbClr val="199E70"/>
                </a:solidFill>
                <a:latin typeface="Calibri"/>
              </a:rPr>
              <a:t>●  </a:t>
            </a:r>
            <a:r>
              <a:rPr b="1" sz="1600">
                <a:solidFill>
                  <a:srgbClr val="FFFFFF"/>
                </a:solidFill>
                <a:latin typeface="Calibri"/>
              </a:rPr>
              <a:t>g(n) </a:t>
            </a:r>
            <a:r>
              <a:rPr sz="1600">
                <a:solidFill>
                  <a:srgbClr val="C3C2B7"/>
                </a:solidFill>
                <a:latin typeface="Calibri"/>
              </a:rPr>
              <a:t>= quanto já custou chegar até aqui.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>
                <a:solidFill>
                  <a:srgbClr val="199E70"/>
                </a:solidFill>
                <a:latin typeface="Calibri"/>
              </a:rPr>
              <a:t>●  </a:t>
            </a:r>
            <a:r>
              <a:rPr b="1" sz="1600">
                <a:solidFill>
                  <a:srgbClr val="FFFFFF"/>
                </a:solidFill>
                <a:latin typeface="Calibri"/>
              </a:rPr>
              <a:t>h(n) </a:t>
            </a:r>
            <a:r>
              <a:rPr sz="1600">
                <a:solidFill>
                  <a:srgbClr val="C3C2B7"/>
                </a:solidFill>
                <a:latin typeface="Calibri"/>
              </a:rPr>
              <a:t>= quanto a heurística acha que ainda falta.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>
                <a:solidFill>
                  <a:srgbClr val="199E70"/>
                </a:solidFill>
                <a:latin typeface="Calibri"/>
              </a:rPr>
              <a:t>●  </a:t>
            </a:r>
            <a:r>
              <a:rPr b="1" sz="1600">
                <a:solidFill>
                  <a:srgbClr val="FFFFFF"/>
                </a:solidFill>
                <a:latin typeface="Calibri"/>
              </a:rPr>
              <a:t>Os três algoritmos </a:t>
            </a:r>
            <a:r>
              <a:rPr sz="1600">
                <a:solidFill>
                  <a:srgbClr val="C3C2B7"/>
                </a:solidFill>
                <a:latin typeface="Calibri"/>
              </a:rPr>
              <a:t>chamam a mesma função busca(problema, f) — só troca o f. Nenhuma busca copiada e colada.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ourier New"/>
              </a:rPr>
              <a:t>06/14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256032" cy="18288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98781"/>
                </a:solidFill>
                <a:latin typeface="Courier New"/>
              </a:rPr>
              <a:t>06 — HEURÍSTICA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Discos fora do pino destino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6400800" cy="1051560"/>
          </a:xfrm>
          <a:prstGeom prst="roundRect">
            <a:avLst>
              <a:gd name="adj" fmla="val 15000"/>
            </a:avLst>
          </a:prstGeom>
          <a:solidFill>
            <a:srgbClr val="1A1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5852160" cy="1051560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r>
              <a:rPr sz="2400">
                <a:solidFill>
                  <a:srgbClr val="898781"/>
                </a:solidFill>
                <a:latin typeface="Courier New"/>
              </a:rPr>
              <a:t>h(n) = </a:t>
            </a:r>
            <a:r>
              <a:rPr sz="2400" b="1">
                <a:solidFill>
                  <a:srgbClr val="199E70"/>
                </a:solidFill>
                <a:latin typeface="Courier New"/>
              </a:rPr>
              <a:t>discos com pino ≠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106070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>
                <a:solidFill>
                  <a:srgbClr val="199E70"/>
                </a:solidFill>
                <a:latin typeface="Calibri"/>
              </a:rPr>
              <a:t>●  </a:t>
            </a:r>
            <a:r>
              <a:rPr b="1" sz="1700">
                <a:solidFill>
                  <a:srgbClr val="FFFFFF"/>
                </a:solidFill>
                <a:latin typeface="Calibri"/>
              </a:rPr>
              <a:t>De onde veio: </a:t>
            </a:r>
            <a:r>
              <a:rPr sz="1700">
                <a:solidFill>
                  <a:srgbClr val="C3C2B7"/>
                </a:solidFill>
                <a:latin typeface="Calibri"/>
              </a:rPr>
              <a:t>é a heurística sugerida na própria ficha do problema.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>
                <a:solidFill>
                  <a:srgbClr val="199E70"/>
                </a:solidFill>
                <a:latin typeface="Calibri"/>
              </a:rPr>
              <a:t>●  </a:t>
            </a:r>
            <a:r>
              <a:rPr b="1" sz="1700">
                <a:solidFill>
                  <a:srgbClr val="FFFFFF"/>
                </a:solidFill>
                <a:latin typeface="Calibri"/>
              </a:rPr>
              <a:t>Admissível: </a:t>
            </a:r>
            <a:r>
              <a:rPr sz="1700">
                <a:solidFill>
                  <a:srgbClr val="C3C2B7"/>
                </a:solidFill>
                <a:latin typeface="Calibri"/>
              </a:rPr>
              <a:t>todo disco fora do lugar precisa de ao menos 1 movimento — nunca supera o custo real.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>
                <a:solidFill>
                  <a:srgbClr val="199E70"/>
                </a:solidFill>
                <a:latin typeface="Calibri"/>
              </a:rPr>
              <a:t>●  </a:t>
            </a:r>
            <a:r>
              <a:rPr b="1" sz="1700">
                <a:solidFill>
                  <a:srgbClr val="FFFFFF"/>
                </a:solidFill>
                <a:latin typeface="Calibri"/>
              </a:rPr>
              <a:t>Confirmado na prática: </a:t>
            </a:r>
            <a:r>
              <a:rPr sz="1700">
                <a:solidFill>
                  <a:srgbClr val="C3C2B7"/>
                </a:solidFill>
                <a:latin typeface="Calibri"/>
              </a:rPr>
              <a:t>o A* nunca divergiu do gabarito (2ⁿ−1) em nenhum dos 24 testes.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ourier New"/>
              </a:rPr>
              <a:t>07/14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256032" cy="18288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98781"/>
                </a:solidFill>
                <a:latin typeface="Courier New"/>
              </a:rPr>
              <a:t>06 — HEURÍSTICA (continuação)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Fraca, de propósito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5120640" cy="2331720"/>
          </a:xfrm>
          <a:prstGeom prst="roundRect">
            <a:avLst>
              <a:gd name="adj" fmla="val 6000"/>
            </a:avLst>
          </a:prstGeom>
          <a:solidFill>
            <a:srgbClr val="1A1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98781"/>
                </a:solidFill>
                <a:latin typeface="Courier New"/>
              </a:rPr>
              <a:t>disco livre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" y="3481120"/>
            <a:ext cx="2468880" cy="74066"/>
          </a:xfrm>
          <a:prstGeom prst="roundRect">
            <a:avLst>
              <a:gd name="adj" fmla="val 30000"/>
            </a:avLst>
          </a:prstGeom>
          <a:solidFill>
            <a:srgbClr val="383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29053" y="2715768"/>
            <a:ext cx="74066" cy="765352"/>
          </a:xfrm>
          <a:prstGeom prst="roundRect">
            <a:avLst>
              <a:gd name="adj" fmla="val 50000"/>
            </a:avLst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95754" y="3209544"/>
            <a:ext cx="740664" cy="197510"/>
          </a:xfrm>
          <a:prstGeom prst="roundRect">
            <a:avLst>
              <a:gd name="adj" fmla="val 50000"/>
            </a:avLst>
          </a:prstGeom>
          <a:solidFill>
            <a:srgbClr val="E4D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862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99E70"/>
                </a:solidFill>
                <a:latin typeface="Calibri"/>
              </a:rPr>
              <a:t>1 disco fora → 1 movimento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965960"/>
            <a:ext cx="5120640" cy="2331720"/>
          </a:xfrm>
          <a:prstGeom prst="roundRect">
            <a:avLst>
              <a:gd name="adj" fmla="val 6000"/>
            </a:avLst>
          </a:prstGeom>
          <a:solidFill>
            <a:srgbClr val="1A1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214884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98781"/>
                </a:solidFill>
                <a:latin typeface="Courier New"/>
              </a:rPr>
              <a:t>disco enterrado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7083" y="3481120"/>
            <a:ext cx="2468880" cy="74066"/>
          </a:xfrm>
          <a:prstGeom prst="roundRect">
            <a:avLst>
              <a:gd name="adj" fmla="val 30000"/>
            </a:avLst>
          </a:prstGeom>
          <a:solidFill>
            <a:srgbClr val="383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24013" y="2715768"/>
            <a:ext cx="74066" cy="765352"/>
          </a:xfrm>
          <a:prstGeom prst="roundRect">
            <a:avLst>
              <a:gd name="adj" fmla="val 50000"/>
            </a:avLst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68515" y="3209544"/>
            <a:ext cx="1185062" cy="197510"/>
          </a:xfrm>
          <a:prstGeom prst="roundRect">
            <a:avLst>
              <a:gd name="adj" fmla="val 50000"/>
            </a:avLst>
          </a:prstGeom>
          <a:solidFill>
            <a:srgbClr val="8C6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04303" y="2987344"/>
            <a:ext cx="913485" cy="197510"/>
          </a:xfrm>
          <a:prstGeom prst="roundRect">
            <a:avLst>
              <a:gd name="adj" fmla="val 50000"/>
            </a:avLst>
          </a:prstGeom>
          <a:solidFill>
            <a:srgbClr val="C9A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40092" y="2765145"/>
            <a:ext cx="641908" cy="197510"/>
          </a:xfrm>
          <a:prstGeom prst="roundRect">
            <a:avLst>
              <a:gd name="adj" fmla="val 50000"/>
            </a:avLst>
          </a:prstGeom>
          <a:solidFill>
            <a:srgbClr val="E4D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38862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5926"/>
                </a:solidFill>
                <a:latin typeface="Calibri"/>
              </a:rPr>
              <a:t>1 disco fora → vários movimentos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091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1">
                <a:solidFill>
                  <a:srgbClr val="C3C2B7"/>
                </a:solidFill>
                <a:latin typeface="Calibri"/>
              </a:rPr>
              <a:t>A heurística conta os dois casos como “1 disco fora do lugar” — igualzinho. Ela não enxerga o quanto um disco está preso sob outros.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ourier New"/>
              </a:rPr>
              <a:t>08/14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256032" cy="18288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98781"/>
                </a:solidFill>
                <a:latin typeface="Courier New"/>
              </a:rPr>
              <a:t>07 —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mbria"/>
              </a:rPr>
              <a:t>3 a 10 discos, sempre batendo o gabarito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65960"/>
          <a:ext cx="105156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Discos</a:t>
                      </a:r>
                    </a:p>
                  </a:txBody>
                  <a:tcPr marL="91440" marR="91440" marT="54864" marB="54864" anchor="ctr">
                    <a:solidFill>
                      <a:srgbClr val="1A1A1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Gabarito</a:t>
                      </a:r>
                    </a:p>
                  </a:txBody>
                  <a:tcPr marL="91440" marR="91440" marT="54864" marB="54864" anchor="ctr">
                    <a:solidFill>
                      <a:srgbClr val="1A1A1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987E5"/>
                          </a:solidFill>
                          <a:latin typeface="Courier New"/>
                        </a:rPr>
                        <a:t>UCS</a:t>
                      </a:r>
                    </a:p>
                  </a:txBody>
                  <a:tcPr marL="91440" marR="91440" marT="54864" marB="54864" anchor="ctr">
                    <a:solidFill>
                      <a:srgbClr val="1A1A1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D95926"/>
                          </a:solidFill>
                          <a:latin typeface="Courier New"/>
                        </a:rPr>
                        <a:t>Gulosa</a:t>
                      </a:r>
                    </a:p>
                  </a:txBody>
                  <a:tcPr marL="91440" marR="91440" marT="54864" marB="54864" anchor="ctr">
                    <a:solidFill>
                      <a:srgbClr val="1A1A1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99E70"/>
                          </a:solidFill>
                          <a:latin typeface="Courier New"/>
                        </a:rPr>
                        <a:t>A*</a:t>
                      </a:r>
                    </a:p>
                  </a:txBody>
                  <a:tcPr marL="91440" marR="91440" marT="54864" marB="54864" anchor="ctr">
                    <a:solidFill>
                      <a:srgbClr val="1A1A19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3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7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24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17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17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4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15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70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59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53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5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31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232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179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177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6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63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686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622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585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7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127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2.144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1.786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1.865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255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6.390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6.267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5.865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9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511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19.512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17.642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18.201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</a:tr>
              <a:tr h="416567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10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1.023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58.366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62.080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C3C2B7"/>
                          </a:solidFill>
                          <a:latin typeface="Courier New"/>
                        </a:rPr>
                        <a:t>55.881</a:t>
                      </a:r>
                    </a:p>
                  </a:txBody>
                  <a:tcPr marL="91440" marR="91440" marT="54864" marB="54864" anchor="ctr"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898781"/>
                </a:solidFill>
                <a:latin typeface="Calibri"/>
              </a:rPr>
              <a:t>nós expandidos por algoritmo — custo bateu com 2ⁿ−1 em TODOS os 24 testes (8 tamanhos × 3 algoritmos)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ourier New"/>
              </a:rPr>
              <a:t>09/14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256032" cy="18288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98781"/>
                </a:solidFill>
                <a:latin typeface="Courier New"/>
              </a:rPr>
              <a:t>07 — RESULTADOS (GRÁFICO)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A explosão combinatória — UCS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965960"/>
          <a:ext cx="102412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893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898781"/>
                </a:solidFill>
                <a:latin typeface="Calibri"/>
              </a:rPr>
              <a:t>escala linear — cada disco a mais multiplica os nós por ~3, coerente com o espaço de estados 3ⁿ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ourier New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256032" cy="18288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98781"/>
                </a:solidFill>
                <a:latin typeface="Courier New"/>
              </a:rPr>
              <a:t>08 — O IMPREVISTO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mbria"/>
              </a:rPr>
              <a:t>A Gulosa nem sempre venceu o A*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280160" y="1874519"/>
          <a:ext cx="91440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064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1">
                <a:solidFill>
                  <a:srgbClr val="C3C2B7"/>
                </a:solidFill>
                <a:latin typeface="Calibri"/>
              </a:rPr>
              <a:t>Com 9 discos, a Gulosa expande MENOS nós que os outros dois. Com 10, ela passa a expandir MAIS que ambos — a heurística fraca não garante vantagem consistente.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ourier New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256032" cy="18288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98781"/>
                </a:solidFill>
                <a:latin typeface="Courier New"/>
              </a:rPr>
              <a:t>09 — 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Quando usar cada um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359152"/>
            <a:ext cx="201168" cy="201168"/>
          </a:xfrm>
          <a:prstGeom prst="ellipse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41832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b="1" sz="1700">
                <a:solidFill>
                  <a:srgbClr val="FFFFFF"/>
                </a:solidFill>
                <a:latin typeface="Calibri"/>
              </a:rPr>
              <a:t>UCS — </a:t>
            </a:r>
            <a:r>
              <a:rPr sz="1700">
                <a:solidFill>
                  <a:srgbClr val="C3C2B7"/>
                </a:solidFill>
                <a:latin typeface="Calibri"/>
              </a:rPr>
              <a:t>sem heurística confiável disponível, mas o custo do caminho tem que ser garantidamente ótimo.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456432"/>
            <a:ext cx="201168" cy="201168"/>
          </a:xfrm>
          <a:prstGeom prst="ellipse">
            <a:avLst/>
          </a:prstGeom>
          <a:solidFill>
            <a:srgbClr val="D95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941832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b="1" sz="1700">
                <a:solidFill>
                  <a:srgbClr val="FFFFFF"/>
                </a:solidFill>
                <a:latin typeface="Calibri"/>
              </a:rPr>
              <a:t>Gulosa — </a:t>
            </a:r>
            <a:r>
              <a:rPr sz="1700">
                <a:solidFill>
                  <a:srgbClr val="C3C2B7"/>
                </a:solidFill>
                <a:latin typeface="Calibri"/>
              </a:rPr>
              <a:t>velocidade importa mais que otimalidade, e uma resposta “boa o suficiente” já serve.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553712"/>
            <a:ext cx="201168" cy="201168"/>
          </a:xfrm>
          <a:prstGeom prst="ellipse">
            <a:avLst/>
          </a:prstGeom>
          <a:solidFill>
            <a:srgbClr val="199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941832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b="1" sz="1700">
                <a:solidFill>
                  <a:srgbClr val="FFFFFF"/>
                </a:solidFill>
                <a:latin typeface="Calibri"/>
              </a:rPr>
              <a:t>A* — </a:t>
            </a:r>
            <a:r>
              <a:rPr sz="1700">
                <a:solidFill>
                  <a:srgbClr val="C3C2B7"/>
                </a:solidFill>
                <a:latin typeface="Calibri"/>
              </a:rPr>
              <a:t>existe heurística admissível, e se quer otimalidade com alguma economia de esforço.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ourier New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256032" cy="18288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98781"/>
                </a:solidFill>
                <a:latin typeface="Courier New"/>
              </a:rPr>
              <a:t>10 — 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Se recomeçássemos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>
                <a:solidFill>
                  <a:srgbClr val="199E70"/>
                </a:solidFill>
                <a:latin typeface="Calibri"/>
              </a:rPr>
              <a:t>●  </a:t>
            </a:r>
            <a:r>
              <a:rPr b="1" sz="1650">
                <a:solidFill>
                  <a:srgbClr val="FFFFFF"/>
                </a:solidFill>
                <a:latin typeface="Calibri"/>
              </a:rPr>
              <a:t>Heurística mais forte, </a:t>
            </a:r>
            <a:r>
              <a:rPr sz="1650">
                <a:solidFill>
                  <a:srgbClr val="C3C2B7"/>
                </a:solidFill>
                <a:latin typeface="Calibri"/>
              </a:rPr>
              <a:t>que capture a estrutura recursiva do problema — hoje ela trata “1 disco fora” sempre igual.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>
                <a:solidFill>
                  <a:srgbClr val="199E70"/>
                </a:solidFill>
                <a:latin typeface="Calibri"/>
              </a:rPr>
              <a:t>●  </a:t>
            </a:r>
            <a:r>
              <a:rPr b="1" sz="1650">
                <a:solidFill>
                  <a:srgbClr val="FFFFFF"/>
                </a:solidFill>
                <a:latin typeface="Calibri"/>
              </a:rPr>
              <a:t>Mais cenários de benchmark, </a:t>
            </a:r>
            <a:r>
              <a:rPr sz="1650">
                <a:solidFill>
                  <a:srgbClr val="C3C2B7"/>
                </a:solidFill>
                <a:latin typeface="Calibri"/>
              </a:rPr>
              <a:t>não só 3 a 10 discos, pra ver se o cruzamento da Gulosa se repete.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77639"/>
            <a:ext cx="10424160" cy="1188720"/>
          </a:xfrm>
          <a:prstGeom prst="roundRect">
            <a:avLst>
              <a:gd name="adj" fmla="val 8000"/>
            </a:avLst>
          </a:prstGeom>
          <a:solidFill>
            <a:srgbClr val="1A1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160520"/>
            <a:ext cx="9784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1">
                <a:solidFill>
                  <a:srgbClr val="FFFFFF"/>
                </a:solidFill>
                <a:latin typeface="Calibri"/>
              </a:rPr>
              <a:t>O aprendizado: uma heurística pode ser admissível — matematicamente correta — e ainda assim ajudar pouco, dependendo de quanto ela realmente representa a estrutura do problema.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9496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98781"/>
                </a:solidFill>
                <a:latin typeface="Courier New"/>
              </a:rPr>
              <a:t>extra já entregue: interface gráfica opcional (+10%)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ourier New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98781"/>
                </a:solidFill>
                <a:latin typeface="Courier New"/>
              </a:rPr>
              <a:t>OBRIGADO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51760"/>
            <a:ext cx="6858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FFFFFF"/>
                </a:solidFill>
                <a:latin typeface="Cambria"/>
              </a:rPr>
              <a:t>Perguntas?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Kauã Cardoso Benini  ·  Gabriel Benini  ·  Felipe Donatoni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57032" y="4123944"/>
            <a:ext cx="2944368" cy="105155"/>
          </a:xfrm>
          <a:prstGeom prst="roundRect">
            <a:avLst>
              <a:gd name="adj" fmla="val 30000"/>
            </a:avLst>
          </a:prstGeom>
          <a:solidFill>
            <a:srgbClr val="383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56421" y="3072384"/>
            <a:ext cx="63093" cy="1051560"/>
          </a:xfrm>
          <a:prstGeom prst="roundRect">
            <a:avLst>
              <a:gd name="adj" fmla="val 50000"/>
            </a:avLst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97669" y="3072384"/>
            <a:ext cx="63093" cy="1051560"/>
          </a:xfrm>
          <a:prstGeom prst="roundRect">
            <a:avLst>
              <a:gd name="adj" fmla="val 50000"/>
            </a:avLst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38917" y="3072384"/>
            <a:ext cx="63093" cy="1051560"/>
          </a:xfrm>
          <a:prstGeom prst="roundRect">
            <a:avLst>
              <a:gd name="adj" fmla="val 50000"/>
            </a:avLst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992106" y="3934663"/>
            <a:ext cx="1156716" cy="168249"/>
          </a:xfrm>
          <a:prstGeom prst="roundRect">
            <a:avLst>
              <a:gd name="adj" fmla="val 50000"/>
            </a:avLst>
          </a:prstGeom>
          <a:solidFill>
            <a:srgbClr val="8C6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107777" y="3745382"/>
            <a:ext cx="925372" cy="168249"/>
          </a:xfrm>
          <a:prstGeom prst="roundRect">
            <a:avLst>
              <a:gd name="adj" fmla="val 50000"/>
            </a:avLst>
          </a:prstGeom>
          <a:solidFill>
            <a:srgbClr val="AD8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23449" y="3556101"/>
            <a:ext cx="694029" cy="168249"/>
          </a:xfrm>
          <a:prstGeom prst="roundRect">
            <a:avLst>
              <a:gd name="adj" fmla="val 50000"/>
            </a:avLst>
          </a:prstGeom>
          <a:solidFill>
            <a:srgbClr val="C9A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39120" y="3366820"/>
            <a:ext cx="462686" cy="168249"/>
          </a:xfrm>
          <a:prstGeom prst="roundRect">
            <a:avLst>
              <a:gd name="adj" fmla="val 50000"/>
            </a:avLst>
          </a:prstGeom>
          <a:solidFill>
            <a:srgbClr val="E4D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77656" y="4208068"/>
            <a:ext cx="420623" cy="1472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898781"/>
                </a:solidFill>
                <a:latin typeface="Courier New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18904" y="4208068"/>
            <a:ext cx="420623" cy="1472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898781"/>
                </a:solidFill>
                <a:latin typeface="Courier New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0152" y="4208068"/>
            <a:ext cx="420623" cy="1472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898781"/>
                </a:solidFill>
                <a:latin typeface="Courier New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ourier New"/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